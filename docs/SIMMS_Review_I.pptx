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27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presenting SIMMS — a smart classroom infrastructure monitoring and maintenance system that carries a fault from automatic detection all the way to supervisor-verified 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Sensor-only systems show readings nobody must act on; vision-only systems detect objects but connect them to no one. The project builds the loop across the bottom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papers are reviewed in the synopsis. The seven on the left are the closest classroom and building systems; each stops at detection, control or presence. The third gap is the unusual one — we treat false alarms as a headline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committed objectives and six extended ones. The non-goals are stated deliberately so that scope stays fixed and the privacy position is unambiguous.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architectural decision is on the bottom bar: classroom infrastructure changes over minutes, not milliseconds, so we sample rather than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obvious question — why use both a camera and sensors? Because no rule here thresholds a single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examiners ask one technical question, expect it here. Four of five observations must agree to raise a fault but only three of five to clear it — the asymmetry biases the system against false tickets. De-duplication prevents forty tickets for one broken fan in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per second is deliberately excluded as a metric — the system samples once every 30 to 60 seconds by design, so a high frame rate would mean nothing. The false-ticket rate is measured over a seven-day unattended run, not during a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the novelty is not that we detect people in a classroom. It is that a fault travels automatically from detection to verified closure, and that we measure how often it does so wrongly. Thank you —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15371" y="5486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PIMPRI CHINCHWAD COLLEGE OF ENGINEERING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572768" y="8686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(AI &amp; ML)  ·  Academic Year 2026–27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  ·  REVIEW 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25146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Classroom Infrastructure Monitoring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Maintenance System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66928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Computer Vision and IoT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66928" y="4434840"/>
            <a:ext cx="11064240" cy="0"/>
          </a:xfrm>
          <a:prstGeom prst="line">
            <a:avLst/>
          </a:prstGeom>
          <a:noFill/>
          <a:ln w="12700">
            <a:solidFill>
              <a:srgbClr val="3C5A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7557" y="4759919"/>
            <a:ext cx="4023733" cy="146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Raghvendra Kotgire — 124B2C006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Chandak — 124B2C008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Prasanna Pawar — 124B2C011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4663440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4937760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 R. Sonawane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6F4100-CD6A-31E7-16FD-DB8DA9BB7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342" y="220040"/>
            <a:ext cx="1235007" cy="12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and 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SIMMS  |  Project Synopsis — Review 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institution runs dozens of classrooms whose lights, fans, boards and furniture are inspected manually and irregularly.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737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is intermittent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02996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watches every room, so a fault persists for days.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5237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informal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8163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register entries — no record of when, to whom, or whether fixed.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328416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310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trail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60273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is never recorded, so recurring faults stay invisible.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737360"/>
            <a:ext cx="5221224" cy="2359152"/>
          </a:xfrm>
          <a:prstGeom prst="roundRect">
            <a:avLst>
              <a:gd name="adj" fmla="val 2326"/>
            </a:avLst>
          </a:prstGeom>
          <a:solidFill>
            <a:srgbClr val="EFF3F6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2231136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monitor classroom occupancy, board condition and the status of lights and fans using computer vision and IoT sensing; to verify each detected abnormality against multiple sources and raise a maintenance ticket only on a confirmed fault; and to classify, prioritise, assign and track that ticket until supervisor-verified closure.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315968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7EFE3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5171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detection capability — it is the absence of a closed loop from observation to verified repair.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" y="49560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  ›   Confirm   ›   Classify   ›   Ticket   ›   Assign   ›   Notify   ›   Repair   ›   Verify   ›   Close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and Research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SIMMS  |  Project Synopsis — Review I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7132320" cy="197866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Muzayanah et al.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face detection, fixed absence timer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sensor corroboration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Kinjarapu et al.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PIR, face, voice, device signals on 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only; no workflow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Niveditha et al.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PIR, LDR, temperature drive relays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thresholds; no vision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Monti et al.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Transfer-learned CNN counting on 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only; no condition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Wang; Chen et al.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CA-YOLOv7 / YOLOv8 behaviour recognition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of people, not rooms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Zhai et al. (2015)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Occupancy-driven HVAC and lighting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verify equipment 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et al.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PIR, ultrasonic, camera with confirmation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alert, no lifecycle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1605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references [8]–[14] — edge computing (Shi), YOLOv7 (Wang), CNN defect detection (Cha), ML predictive maintenance (Carvalho), MQTT protocol comparison (Naik), occupancy sensing (Candanedo; Chen).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1812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18120" y="1691640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75320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are not fused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75320" y="1993392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sits alongside vision output rather than entering one rule.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8120" y="2587752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75320" y="2596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not connected to resolution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75320" y="2889504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ends at an accuracy figure; maintenance systems begin at manual entry.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818120" y="3483864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5"/>
          <p:cNvSpPr/>
          <p:nvPr/>
        </p:nvSpPr>
        <p:spPr>
          <a:xfrm>
            <a:off x="781812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75320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behaviour is not reported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75320" y="378561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report mAP on curated sets, not spurious alerts during unattended operation.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484632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7EFE3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" y="51023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all three: it fuses both signals in every rule, spans detection to verified closure, and reports operational false-alarm rate as a primary result.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Aim, Objectives and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SIMMS  |  Project Synopsis — Review 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7EFE3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264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18488" y="141732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detect classroom infrastructure and electrical faults using edge-based computer vision and IoT sensing, and to manage each confirmed fault through a digital workflow to supervisor-verified closure.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 — committed deliverables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0233" y="2638044"/>
            <a:ext cx="789593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capture and analyse classroom condition on an edge computing device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seat-level occupancy using person detection over calibrated seat regions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light and fan status and electrical parameters using IoT sensors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de-duplicate and debounce detections before raising a ticket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classify, prioritise and assign maintenance tickets</a:t>
            </a:r>
          </a:p>
        </p:txBody>
      </p:sp>
      <p:sp>
        <p:nvSpPr>
          <p:cNvPr id="12" name="Shape 10"/>
          <p:cNvSpPr/>
          <p:nvPr/>
        </p:nvSpPr>
        <p:spPr>
          <a:xfrm>
            <a:off x="566928" y="4498848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22960" y="4691433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— AFTER CORE IS STABLE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003077"/>
            <a:ext cx="486871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rotation verification · furniture anomaly and damage detection · recurring-fault analytics · automated reports · multi-classroom demonstration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4498848"/>
            <a:ext cx="53583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470076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19672" y="503107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facial recognition or identification · no continuous recording or cloud upload of frames · no attendance system · no switching of live classroom loads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PROPOSED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SIMMS  |  Project Synopsis — Review 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 (EDGE)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19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Raspberry Pi 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011680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frame / 30–60 s · person detection,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seat-ROI occupancy, board ink ratio,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evidence capture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072384"/>
            <a:ext cx="3200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18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sensor node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351129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/ 5 s · PZEM-004T, CT clamp,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DHT11, LDR — V, I, P, PF, energy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observations only — no raw video leaves the room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50208" y="2770632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1D3B53"/>
          </a:solidFill>
          <a:ln/>
        </p:spPr>
      </p:sp>
      <p:sp>
        <p:nvSpPr>
          <p:cNvPr id="15" name="Text 13"/>
          <p:cNvSpPr/>
          <p:nvPr/>
        </p:nvSpPr>
        <p:spPr>
          <a:xfrm>
            <a:off x="3950208" y="277063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2258568"/>
            <a:ext cx="621792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67328" y="3758184"/>
            <a:ext cx="621792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91456" y="2999232"/>
            <a:ext cx="457200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30352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1572768"/>
            <a:ext cx="3566160" cy="2871216"/>
          </a:xfrm>
          <a:prstGeom prst="roundRect">
            <a:avLst>
              <a:gd name="adj" fmla="val 1592"/>
            </a:avLst>
          </a:prstGeom>
          <a:solidFill>
            <a:srgbClr val="1D3B53"/>
          </a:solidFill>
          <a:ln w="9525">
            <a:solidFill>
              <a:srgbClr val="1D3B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0" y="2011680"/>
            <a:ext cx="32004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and persist observations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· debounce · de-duplication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and classification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 and assignment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· REST API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and Telegram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2331720"/>
            <a:ext cx="548640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3703320"/>
            <a:ext cx="548640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46404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CLIENT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64040" y="1755648"/>
            <a:ext cx="1620727" cy="1033269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198032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46920" y="2291598"/>
            <a:ext cx="1344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full event history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64040" y="3218688"/>
            <a:ext cx="1620727" cy="1033267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7589" y="3367981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37589" y="3660589"/>
            <a:ext cx="1801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· staff · admin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screens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0749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7EFE3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2760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inspection, not real-time video — one frame every 30–60 s keeps the Raspberry Pi under 7 % duty cycle, removes the need for a GPU, and makes the privacy position defensible.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PROPOSED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SIMMS  |  Project Synopsis — Review 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8653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YOLO, person class only, tested against calibrated seat ROIs.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2677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geometry comes from calibration — no seat detector to train.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0488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condition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4808" y="18653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warp, adaptive threshold, morphological opening, ink-pixel ratio.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2677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measurement, not a perception problem — explainable and tunable on site.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34655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PZEM-004T on the demo panel plus a CT clamp on the fan branch.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38679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bands are learned at commissioning, not hard-coded.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0488" y="29718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154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4808" y="34655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0 for ≥ 10 min AND measured load above threshold.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64808" y="38679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both modalities — neither alone separates waste from use.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617720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EFF3F6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coupling — the operative idea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508406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covered in writing during an active lecture is normal and raises nothing. The same board with the room confirmed vacant for ten minutes becomes a cleaning task. Occupancy contextualises board state; occupancy contextualises electrical load.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PROPOSED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Confirmation, De-duplication and Ticket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SIMMS  |  Project Synopsis — Review 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detection is not an event, and an event is not a ticket. Three mechanisms in sequence — the project's principal reliability contribution.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47088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confirmation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633472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sliding window per (classroom, detector, target). Thresholds are asymmetric — slower to raise a fault than to clear 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1655251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47088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 by signature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2633472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faults reduce to (classroom, issue type, target, calibration version). A repeat increments a counter, not a second ticket.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1584" y="164592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1847088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39328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and auto-resolution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39328" y="2633472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signature is suppressed for 30 minutes. A fault clearing before anyone acts closes as AUTO_RESOLVED.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34670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FF3F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3467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 5 obs.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50592" y="334670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FF3F6"/>
          </a:solidFill>
          <a:ln/>
        </p:spPr>
      </p:sp>
      <p:sp>
        <p:nvSpPr>
          <p:cNvPr id="25" name="Text 23"/>
          <p:cNvSpPr/>
          <p:nvPr/>
        </p:nvSpPr>
        <p:spPr>
          <a:xfrm>
            <a:off x="2450592" y="33467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 4 of 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34256" y="334670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FF3F6"/>
          </a:solidFill>
          <a:ln/>
        </p:spPr>
      </p:sp>
      <p:sp>
        <p:nvSpPr>
          <p:cNvPr id="27" name="Text 25"/>
          <p:cNvSpPr/>
          <p:nvPr/>
        </p:nvSpPr>
        <p:spPr>
          <a:xfrm>
            <a:off x="4334256" y="33467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 3 of 5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334670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FF3F6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3467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0.55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334670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FF3F6"/>
          </a:solidFill>
          <a:ln/>
        </p:spPr>
      </p:sp>
      <p:sp>
        <p:nvSpPr>
          <p:cNvPr id="31" name="Text 29"/>
          <p:cNvSpPr/>
          <p:nvPr/>
        </p:nvSpPr>
        <p:spPr>
          <a:xfrm>
            <a:off x="8101584" y="33467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 30 min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985248" y="3346704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EFF3F6"/>
          </a:solidFill>
          <a:ln/>
        </p:spPr>
      </p:sp>
      <p:sp>
        <p:nvSpPr>
          <p:cNvPr id="33" name="Text 31"/>
          <p:cNvSpPr/>
          <p:nvPr/>
        </p:nvSpPr>
        <p:spPr>
          <a:xfrm>
            <a:off x="9985248" y="33467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60 s / 5 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66928" y="4315968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D3B53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315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94560" y="4544568"/>
            <a:ext cx="256032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05456" y="4315968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D3B53"/>
          </a:solidFill>
          <a:ln/>
        </p:spPr>
      </p:sp>
      <p:sp>
        <p:nvSpPr>
          <p:cNvPr id="39" name="Text 37"/>
          <p:cNvSpPr/>
          <p:nvPr/>
        </p:nvSpPr>
        <p:spPr>
          <a:xfrm>
            <a:off x="2505456" y="4315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33088" y="4544568"/>
            <a:ext cx="256032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443984" y="4315968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D3B53"/>
          </a:solidFill>
          <a:ln/>
        </p:spPr>
      </p:sp>
      <p:sp>
        <p:nvSpPr>
          <p:cNvPr id="42" name="Text 40"/>
          <p:cNvSpPr/>
          <p:nvPr/>
        </p:nvSpPr>
        <p:spPr>
          <a:xfrm>
            <a:off x="4443984" y="4315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71616" y="4544568"/>
            <a:ext cx="256032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82512" y="4315968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D3B53"/>
          </a:solidFill>
          <a:ln/>
        </p:spPr>
      </p:sp>
      <p:sp>
        <p:nvSpPr>
          <p:cNvPr id="45" name="Text 43"/>
          <p:cNvSpPr/>
          <p:nvPr/>
        </p:nvSpPr>
        <p:spPr>
          <a:xfrm>
            <a:off x="6382512" y="4315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10144" y="4544568"/>
            <a:ext cx="256032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321040" y="4315968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1D3B53"/>
          </a:solidFill>
          <a:ln/>
        </p:spPr>
      </p:sp>
      <p:sp>
        <p:nvSpPr>
          <p:cNvPr id="48" name="Text 46"/>
          <p:cNvSpPr/>
          <p:nvPr/>
        </p:nvSpPr>
        <p:spPr>
          <a:xfrm>
            <a:off x="8321040" y="4315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948672" y="4544568"/>
            <a:ext cx="256032" cy="0"/>
          </a:xfrm>
          <a:prstGeom prst="line">
            <a:avLst/>
          </a:prstGeom>
          <a:noFill/>
          <a:ln w="15875">
            <a:solidFill>
              <a:srgbClr val="5F6E7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259568" y="4315968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/>
        </p:spPr>
      </p:sp>
      <p:sp>
        <p:nvSpPr>
          <p:cNvPr id="51" name="Text 49"/>
          <p:cNvSpPr/>
          <p:nvPr/>
        </p:nvSpPr>
        <p:spPr>
          <a:xfrm>
            <a:off x="10259568" y="4315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6928" y="4882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— supervisor rejects the repair    ·    AUTO_RESOLVED — fault clears before anyone acts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6928" y="519379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EFE3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" y="5330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cannot close their own tickets — RESOLVED → VERIFIED requires supervisor action, which is what makes the record an accountability trail.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59536" y="5650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Electrical → Electrical Maintenance (2 h / 8 h)  ·  Cleaning → Housekeeping (24 h)  ·  Furniture → Furniture Maintenance (8 h)  ·  Energy → Electrical Supervisor (8 h)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OUTCOMES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Performance Targets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SIMMS  |  Project Synopsis — Review 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F7EFE3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463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86384" y="19568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ticket per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per day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2424" y="1325880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463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D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92 %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19568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seat-level occupancy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463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D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6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37376" y="19568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fault onset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ticket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43416" y="1325880"/>
            <a:ext cx="26060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62872" y="1463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D3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 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62872" y="195681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cycle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88920"/>
          <a:ext cx="8046720" cy="20853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 count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≤ 2 seats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Against manual count, 100+ frames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Seat-level occupancy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Per-ROI ground truth, held-out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state agreement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Versus two independent annotators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ON/OFF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switching trials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ticket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per room per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7-day continuous unattended 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fault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 fault trials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Ticket-to-notification 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log versus device receipt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778240" y="2788920"/>
            <a:ext cx="2843784" cy="2286000"/>
          </a:xfrm>
          <a:prstGeom prst="roundRect">
            <a:avLst>
              <a:gd name="adj" fmla="val 2400"/>
            </a:avLst>
          </a:prstGeom>
          <a:solidFill>
            <a:srgbClr val="EFF3F6"/>
          </a:solidFill>
          <a:ln w="9525">
            <a:solidFill>
              <a:srgbClr val="D5DD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34272" y="29626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034272" y="3255264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Single-classroom prototype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classified and routed tickets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PWA with push notifications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accuracy and false-alarm rate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audit trail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5257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design targets to be validated experimentally, not claimed results. Where a target is missed, the measured value will be reported with an analysis of the cause.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5577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 approximately Rs. 5,460  ·  hosting cost nil — the full stack runs on one machine on the college LAN.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85416"/>
            <a:ext cx="402336" cy="402336"/>
          </a:xfrm>
          <a:prstGeom prst="ellipse">
            <a:avLst/>
          </a:prstGeom>
          <a:solidFill>
            <a:srgbClr val="F0A94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07008" y="21488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rule fuses a vision signal with a sensor signal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53288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contextualises board state; occupancy contextualises electrical load. The system separates legitimate use from genuine fault in a way neither modality achieves alone.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557016"/>
            <a:ext cx="402336" cy="402336"/>
          </a:xfrm>
          <a:prstGeom prst="ellipse">
            <a:avLst/>
          </a:prstGeom>
          <a:solidFill>
            <a:srgbClr val="F0A94B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35204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engineered and evaluated to be trusted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390448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confirmation, de-duplication and cooldown logic — and a reported measure of how rarely it raises problems that do not exist, alongside how well it detects the ones that 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029200"/>
            <a:ext cx="11064240" cy="0"/>
          </a:xfrm>
          <a:prstGeom prst="line">
            <a:avLst/>
          </a:prstGeom>
          <a:noFill/>
          <a:ln w="12700">
            <a:solidFill>
              <a:srgbClr val="3C5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5212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contribution is not object detection in a classroom, which is well established — it is the closed loop, and the evidence that the loop can be trusted.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95360" y="5138928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0A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95360" y="559612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welcome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81944" y="6291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1916</Words>
  <Application>Microsoft Office PowerPoint</Application>
  <PresentationFormat>Widescreen</PresentationFormat>
  <Paragraphs>259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Anuj Chandak</cp:lastModifiedBy>
  <cp:revision>3</cp:revision>
  <dcterms:created xsi:type="dcterms:W3CDTF">2026-08-19T06:07:51Z</dcterms:created>
  <dcterms:modified xsi:type="dcterms:W3CDTF">2026-08-19T10:18:08Z</dcterms:modified>
</cp:coreProperties>
</file>